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EB82FAE-EBF8-4395-B2B0-8928CC41A87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75EE43-1CD0-4509-8747-C213A34D66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7A9CCC-1441-4462-9D63-AE59039A5C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B87847-9B0B-433E-A77D-714346D0C7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9C030F-4C9B-420F-AE7A-9735F15C01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C44143-3635-4110-A724-F00B71D29A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F19D9A-2201-4462-9D70-7215D5E103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E5DBDE-31B4-42AE-B200-2CF9F7538F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E3E12B-9142-4B5B-B5BA-3E56624576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1F1D7A-238F-4C5B-A263-AA5C637FA7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9DA13-ADF8-4CA4-9EBB-AC273B1539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0648D7-EB68-4F9A-AFEB-85E77BAFD4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CE52A1-0B96-43B6-A237-64B4607A7D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418EF1-30B7-4A63-90A6-F58BF6B3D7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161765-5910-41B8-838D-CC382FBE3C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0" y="155448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pc="4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DEVO</a:t>
            </a:r>
            <a:r>
              <a:rPr lang="en-US" sz="1400" b="0" u="none" spc="4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PS </a:t>
            </a:r>
            <a:r>
              <a:rPr lang="en-US" sz="1400" b="0" u="none" spc="4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PROJ</a:t>
            </a:r>
            <a:r>
              <a:rPr lang="en-US" sz="1400" b="0" u="none" spc="4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ECT  </a:t>
            </a:r>
            <a:r>
              <a:rPr lang="en-US" sz="1400" b="0" u="none" spc="4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·  </a:t>
            </a:r>
            <a:r>
              <a:rPr lang="en-US" sz="1400" b="0" u="none" spc="4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CONT</a:t>
            </a:r>
            <a:r>
              <a:rPr lang="en-US" sz="1400" b="0" u="none" spc="4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AINE</a:t>
            </a:r>
            <a:r>
              <a:rPr lang="en-US" sz="1400" b="0" u="none" spc="4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RIZA</a:t>
            </a:r>
            <a:r>
              <a:rPr lang="en-US" sz="1400" b="0" u="none" spc="4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0" y="2057400"/>
            <a:ext cx="12191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VProfile </a:t>
            </a: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on </a:t>
            </a: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Docker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914400" y="3200400"/>
            <a:ext cx="1036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Multi-stage containerized </a:t>
            </a:r>
            <a:r>
              <a:rPr lang="en-US" sz="18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deployment of a 3-tier Java </a:t>
            </a:r>
            <a:r>
              <a:rPr lang="en-US" sz="18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application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914400" y="370332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Tomcat  ·  MySQL  ·  RabbitMQ  </a:t>
            </a:r>
            <a:r>
              <a:rPr lang="en-US" sz="13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·  Memcached  ·  AWS ALB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/home/claude/assets/sig.png"/>
          <p:cNvPicPr/>
          <p:nvPr/>
        </p:nvPicPr>
        <p:blipFill>
          <a:blip r:embed="rId2"/>
          <a:stretch/>
        </p:blipFill>
        <p:spPr>
          <a:xfrm>
            <a:off x="4770000" y="4480560"/>
            <a:ext cx="2651400" cy="89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/home/claude/assets/sig.png"/>
          <p:cNvPicPr/>
          <p:nvPr/>
        </p:nvPicPr>
        <p:blipFill>
          <a:blip r:embed="rId2"/>
          <a:stretch/>
        </p:blipFill>
        <p:spPr>
          <a:xfrm>
            <a:off x="10222920" y="6163200"/>
            <a:ext cx="169128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Text 0"/>
          <p:cNvSpPr/>
          <p:nvPr/>
        </p:nvSpPr>
        <p:spPr>
          <a:xfrm>
            <a:off x="457200" y="6327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640080" y="502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OVERVIEW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62172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Agenda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822960" y="1828800"/>
            <a:ext cx="566640" cy="566640"/>
          </a:xfrm>
          <a:prstGeom prst="ellipse">
            <a:avLst/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822960" y="18288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01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1600200" y="1783080"/>
            <a:ext cx="4205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Project overview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822960" y="2880360"/>
            <a:ext cx="566640" cy="56664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822960" y="28803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02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/>
          <p:cNvSpPr/>
          <p:nvPr/>
        </p:nvSpPr>
        <p:spPr>
          <a:xfrm>
            <a:off x="1600200" y="2834640"/>
            <a:ext cx="4205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Tech stack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822960" y="3931920"/>
            <a:ext cx="566640" cy="56664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822960" y="3931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03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1600200" y="3886200"/>
            <a:ext cx="4205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Architecture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2"/>
          <p:cNvSpPr/>
          <p:nvPr/>
        </p:nvSpPr>
        <p:spPr>
          <a:xfrm>
            <a:off x="822960" y="4983480"/>
            <a:ext cx="566640" cy="566640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822960" y="49834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04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1600200" y="4937760"/>
            <a:ext cx="4205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Multi-stage build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5"/>
          <p:cNvSpPr/>
          <p:nvPr/>
        </p:nvSpPr>
        <p:spPr>
          <a:xfrm>
            <a:off x="6355080" y="1828800"/>
            <a:ext cx="566640" cy="566640"/>
          </a:xfrm>
          <a:prstGeom prst="ellipse">
            <a:avLst/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6355080" y="18288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05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7132320" y="1783080"/>
            <a:ext cx="4205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Deploy from scratch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6355080" y="2880360"/>
            <a:ext cx="566640" cy="566640"/>
          </a:xfrm>
          <a:prstGeom prst="ellipse">
            <a:avLst/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6355080" y="28803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06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7132320" y="2834640"/>
            <a:ext cx="4205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Project structure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1"/>
          <p:cNvSpPr/>
          <p:nvPr/>
        </p:nvSpPr>
        <p:spPr>
          <a:xfrm>
            <a:off x="6355080" y="3931920"/>
            <a:ext cx="566640" cy="56664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2"/>
          <p:cNvSpPr/>
          <p:nvPr/>
        </p:nvSpPr>
        <p:spPr>
          <a:xfrm>
            <a:off x="6355080" y="3931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07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3"/>
          <p:cNvSpPr/>
          <p:nvPr/>
        </p:nvSpPr>
        <p:spPr>
          <a:xfrm>
            <a:off x="7132320" y="3886200"/>
            <a:ext cx="4205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On-prem vs Docker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4"/>
          <p:cNvSpPr/>
          <p:nvPr/>
        </p:nvSpPr>
        <p:spPr>
          <a:xfrm>
            <a:off x="6355080" y="4983480"/>
            <a:ext cx="566640" cy="56664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5"/>
          <p:cNvSpPr/>
          <p:nvPr/>
        </p:nvSpPr>
        <p:spPr>
          <a:xfrm>
            <a:off x="6355080" y="498348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08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6"/>
          <p:cNvSpPr/>
          <p:nvPr/>
        </p:nvSpPr>
        <p:spPr>
          <a:xfrm>
            <a:off x="7132320" y="4937760"/>
            <a:ext cx="4205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Notes &amp; roadmap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 descr="/home/claude/assets/sig.png"/>
          <p:cNvPicPr/>
          <p:nvPr/>
        </p:nvPicPr>
        <p:blipFill>
          <a:blip r:embed="rId2"/>
          <a:stretch/>
        </p:blipFill>
        <p:spPr>
          <a:xfrm>
            <a:off x="10222920" y="6163200"/>
            <a:ext cx="169128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0"/>
          <p:cNvSpPr/>
          <p:nvPr/>
        </p:nvSpPr>
        <p:spPr>
          <a:xfrm>
            <a:off x="457200" y="6327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640080" y="502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THE PROJECT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62172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What is VProfile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640080" y="178308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VProfile </a:t>
            </a:r>
            <a:r>
              <a:rPr lang="en-US" sz="17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is a classic </a:t>
            </a:r>
            <a:r>
              <a:rPr lang="en-US" sz="17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3-tier Java (WAR) </a:t>
            </a:r>
            <a:r>
              <a:rPr lang="en-US" sz="17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web application served by Apache Tomcat.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640080" y="2743200"/>
            <a:ext cx="54860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We containerized the full stack with Docker Compose — mirroring the original on-prem 5-VM topology one-to-one, where each VM becomes a container and the service hostnames carry over unchanged.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6720840" y="1783080"/>
            <a:ext cx="4845960" cy="123408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6720840" y="1783080"/>
            <a:ext cx="50040" cy="1234080"/>
          </a:xfrm>
          <a:prstGeom prst="roundRect">
            <a:avLst>
              <a:gd name="adj" fmla="val 54545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7040880" y="198432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Presentation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7040880" y="244152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8BDF8"/>
                </a:solidFill>
                <a:effectLst/>
                <a:uFillTx/>
                <a:latin typeface="JetBrains Mono"/>
                <a:ea typeface="JetBrains Mono"/>
              </a:rPr>
              <a:t>User / Browser · ALB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6720840" y="3273480"/>
            <a:ext cx="4845960" cy="123408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6720840" y="3273480"/>
            <a:ext cx="50040" cy="1234080"/>
          </a:xfrm>
          <a:prstGeom prst="roundRect">
            <a:avLst>
              <a:gd name="adj" fmla="val 54545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7040880" y="347472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Application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7040880" y="393192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Tomcat · ROOT.war :8080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3"/>
          <p:cNvSpPr/>
          <p:nvPr/>
        </p:nvSpPr>
        <p:spPr>
          <a:xfrm>
            <a:off x="6720840" y="4763880"/>
            <a:ext cx="4845960" cy="123408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6720840" y="4763880"/>
            <a:ext cx="50040" cy="1234080"/>
          </a:xfrm>
          <a:prstGeom prst="roundRect">
            <a:avLst>
              <a:gd name="adj" fmla="val 54545"/>
            </a:avLst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7040880" y="496512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Data &amp; Services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7040880" y="542232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9F1C"/>
                </a:solidFill>
                <a:effectLst/>
                <a:uFillTx/>
                <a:latin typeface="JetBrains Mono"/>
                <a:ea typeface="JetBrains Mono"/>
              </a:rPr>
              <a:t>MySQL · RabbitMQ · Memcached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 0" descr="/home/claude/assets/sig.png"/>
          <p:cNvPicPr/>
          <p:nvPr/>
        </p:nvPicPr>
        <p:blipFill>
          <a:blip r:embed="rId2"/>
          <a:stretch/>
        </p:blipFill>
        <p:spPr>
          <a:xfrm>
            <a:off x="10222920" y="6163200"/>
            <a:ext cx="169128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0"/>
          <p:cNvSpPr/>
          <p:nvPr/>
        </p:nvSpPr>
        <p:spPr>
          <a:xfrm>
            <a:off x="457200" y="6327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640080" y="502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FOUR SERVICES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62172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Tech Stack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457200" y="2011680"/>
            <a:ext cx="2651400" cy="3245760"/>
          </a:xfrm>
          <a:prstGeom prst="roundRect">
            <a:avLst>
              <a:gd name="adj" fmla="val 3103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457200" y="2011680"/>
            <a:ext cx="50040" cy="3245760"/>
          </a:xfrm>
          <a:prstGeom prst="roundRect">
            <a:avLst>
              <a:gd name="adj" fmla="val 54545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777240" y="2331720"/>
            <a:ext cx="639720" cy="63972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777240" y="2331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1554480" y="239580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app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777240" y="32461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tomcat:9-jre8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777240" y="36392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:8080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777240" y="4160520"/>
            <a:ext cx="2011680" cy="360"/>
          </a:xfrm>
          <a:prstGeom prst="line">
            <a:avLst/>
          </a:prstGeom>
          <a:ln w="12700">
            <a:solidFill>
              <a:srgbClr val="1F2C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777240" y="4297680"/>
            <a:ext cx="2011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Serves the VProfile WAR as ROOT.war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3346560" y="2011680"/>
            <a:ext cx="2651400" cy="3245760"/>
          </a:xfrm>
          <a:prstGeom prst="roundRect">
            <a:avLst>
              <a:gd name="adj" fmla="val 3103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3346560" y="2011680"/>
            <a:ext cx="50040" cy="3245760"/>
          </a:xfrm>
          <a:prstGeom prst="roundRect">
            <a:avLst>
              <a:gd name="adj" fmla="val 54545"/>
            </a:avLst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3666600" y="2331720"/>
            <a:ext cx="639720" cy="639720"/>
          </a:xfrm>
          <a:prstGeom prst="ellipse">
            <a:avLst/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3666600" y="2331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4443840" y="239580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db01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3666600" y="32461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9F1C"/>
                </a:solidFill>
                <a:effectLst/>
                <a:uFillTx/>
                <a:latin typeface="JetBrains Mono"/>
                <a:ea typeface="JetBrains Mono"/>
              </a:rPr>
              <a:t>mysql:8.0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3666600" y="36392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:3306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3666600" y="4160520"/>
            <a:ext cx="2011680" cy="360"/>
          </a:xfrm>
          <a:prstGeom prst="line">
            <a:avLst/>
          </a:prstGeom>
          <a:ln w="12700">
            <a:solidFill>
              <a:srgbClr val="1F2C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3666600" y="4297680"/>
            <a:ext cx="2011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Primary database (accounts) on a volume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1"/>
          <p:cNvSpPr/>
          <p:nvPr/>
        </p:nvSpPr>
        <p:spPr>
          <a:xfrm>
            <a:off x="6236280" y="2011680"/>
            <a:ext cx="2651400" cy="3245760"/>
          </a:xfrm>
          <a:prstGeom prst="roundRect">
            <a:avLst>
              <a:gd name="adj" fmla="val 3103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2"/>
          <p:cNvSpPr/>
          <p:nvPr/>
        </p:nvSpPr>
        <p:spPr>
          <a:xfrm>
            <a:off x="6236280" y="2011680"/>
            <a:ext cx="50040" cy="3245760"/>
          </a:xfrm>
          <a:prstGeom prst="roundRect">
            <a:avLst>
              <a:gd name="adj" fmla="val 54545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3"/>
          <p:cNvSpPr/>
          <p:nvPr/>
        </p:nvSpPr>
        <p:spPr>
          <a:xfrm>
            <a:off x="6556320" y="2331720"/>
            <a:ext cx="639720" cy="63972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4"/>
          <p:cNvSpPr/>
          <p:nvPr/>
        </p:nvSpPr>
        <p:spPr>
          <a:xfrm>
            <a:off x="6556320" y="2331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5"/>
          <p:cNvSpPr/>
          <p:nvPr/>
        </p:nvSpPr>
        <p:spPr>
          <a:xfrm>
            <a:off x="7333560" y="239580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rmq01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6"/>
          <p:cNvSpPr/>
          <p:nvPr/>
        </p:nvSpPr>
        <p:spPr>
          <a:xfrm>
            <a:off x="6556320" y="32461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A78BFA"/>
                </a:solidFill>
                <a:effectLst/>
                <a:uFillTx/>
                <a:latin typeface="JetBrains Mono"/>
                <a:ea typeface="JetBrains Mono"/>
              </a:rPr>
              <a:t>rabbitmq:3-mgmt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7"/>
          <p:cNvSpPr/>
          <p:nvPr/>
        </p:nvSpPr>
        <p:spPr>
          <a:xfrm>
            <a:off x="6556320" y="36392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:5672 / :15672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8"/>
          <p:cNvSpPr/>
          <p:nvPr/>
        </p:nvSpPr>
        <p:spPr>
          <a:xfrm>
            <a:off x="6555960" y="4160520"/>
            <a:ext cx="2011680" cy="360"/>
          </a:xfrm>
          <a:prstGeom prst="line">
            <a:avLst/>
          </a:prstGeom>
          <a:ln w="12700">
            <a:solidFill>
              <a:srgbClr val="1F2C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9"/>
          <p:cNvSpPr/>
          <p:nvPr/>
        </p:nvSpPr>
        <p:spPr>
          <a:xfrm>
            <a:off x="6556320" y="4297680"/>
            <a:ext cx="2011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Message broker + management UI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0"/>
          <p:cNvSpPr/>
          <p:nvPr/>
        </p:nvSpPr>
        <p:spPr>
          <a:xfrm>
            <a:off x="9125640" y="2011680"/>
            <a:ext cx="2651400" cy="3245760"/>
          </a:xfrm>
          <a:prstGeom prst="roundRect">
            <a:avLst>
              <a:gd name="adj" fmla="val 3103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1"/>
          <p:cNvSpPr/>
          <p:nvPr/>
        </p:nvSpPr>
        <p:spPr>
          <a:xfrm>
            <a:off x="9125640" y="2011680"/>
            <a:ext cx="50040" cy="3245760"/>
          </a:xfrm>
          <a:prstGeom prst="roundRect">
            <a:avLst>
              <a:gd name="adj" fmla="val 54545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2"/>
          <p:cNvSpPr/>
          <p:nvPr/>
        </p:nvSpPr>
        <p:spPr>
          <a:xfrm>
            <a:off x="9445680" y="2331720"/>
            <a:ext cx="639720" cy="639720"/>
          </a:xfrm>
          <a:prstGeom prst="ellipse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3"/>
          <p:cNvSpPr/>
          <p:nvPr/>
        </p:nvSpPr>
        <p:spPr>
          <a:xfrm>
            <a:off x="9445680" y="2331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4"/>
          <p:cNvSpPr/>
          <p:nvPr/>
        </p:nvSpPr>
        <p:spPr>
          <a:xfrm>
            <a:off x="10222920" y="2395800"/>
            <a:ext cx="1462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mc01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5"/>
          <p:cNvSpPr/>
          <p:nvPr/>
        </p:nvSpPr>
        <p:spPr>
          <a:xfrm>
            <a:off x="9445680" y="324612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8BDF8"/>
                </a:solidFill>
                <a:effectLst/>
                <a:uFillTx/>
                <a:latin typeface="JetBrains Mono"/>
                <a:ea typeface="JetBrains Mono"/>
              </a:rPr>
              <a:t>memcached:1.6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6"/>
          <p:cNvSpPr/>
          <p:nvPr/>
        </p:nvSpPr>
        <p:spPr>
          <a:xfrm>
            <a:off x="9445680" y="36392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:11211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7"/>
          <p:cNvSpPr/>
          <p:nvPr/>
        </p:nvSpPr>
        <p:spPr>
          <a:xfrm>
            <a:off x="9445680" y="4160520"/>
            <a:ext cx="2011680" cy="360"/>
          </a:xfrm>
          <a:prstGeom prst="line">
            <a:avLst/>
          </a:prstGeom>
          <a:ln w="12700">
            <a:solidFill>
              <a:srgbClr val="1F2C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8"/>
          <p:cNvSpPr/>
          <p:nvPr/>
        </p:nvSpPr>
        <p:spPr>
          <a:xfrm>
            <a:off x="9445680" y="4297680"/>
            <a:ext cx="2011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In-memory cache layer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Image 0" descr="/home/claude/assets/sig.png"/>
          <p:cNvPicPr/>
          <p:nvPr/>
        </p:nvPicPr>
        <p:blipFill>
          <a:blip r:embed="rId2"/>
          <a:stretch/>
        </p:blipFill>
        <p:spPr>
          <a:xfrm>
            <a:off x="10222920" y="6163200"/>
            <a:ext cx="169128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0"/>
          <p:cNvSpPr/>
          <p:nvPr/>
        </p:nvSpPr>
        <p:spPr>
          <a:xfrm>
            <a:off x="457200" y="6327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05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640080" y="502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END-TO-END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62172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Architecture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1" descr="/home/claude/assets/arch.png"/>
          <p:cNvPicPr/>
          <p:nvPr/>
        </p:nvPicPr>
        <p:blipFill>
          <a:blip r:embed="rId3"/>
          <a:stretch/>
        </p:blipFill>
        <p:spPr>
          <a:xfrm>
            <a:off x="502920" y="1371600"/>
            <a:ext cx="3794400" cy="48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Shape 3"/>
          <p:cNvSpPr/>
          <p:nvPr/>
        </p:nvSpPr>
        <p:spPr>
          <a:xfrm>
            <a:off x="5120640" y="1417320"/>
            <a:ext cx="6537600" cy="1096920"/>
          </a:xfrm>
          <a:prstGeom prst="roundRect">
            <a:avLst>
              <a:gd name="adj" fmla="val 7500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5120640" y="1417320"/>
            <a:ext cx="50040" cy="1096920"/>
          </a:xfrm>
          <a:prstGeom prst="roundRect">
            <a:avLst>
              <a:gd name="adj" fmla="val 54545"/>
            </a:avLst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5394960" y="1554480"/>
            <a:ext cx="598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9F1C"/>
                </a:solidFill>
                <a:effectLst/>
                <a:uFillTx/>
                <a:latin typeface="Space Grotesk"/>
                <a:ea typeface="Space Grotesk"/>
              </a:rPr>
              <a:t>Build phase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5394960" y="1920240"/>
            <a:ext cx="6034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A multi-stage Dockerfile compiles the WAR with Maven, then copies it into a slim Tomcat/JRE runtime as ROOT.war.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5120640" y="2606040"/>
            <a:ext cx="6537600" cy="1096920"/>
          </a:xfrm>
          <a:prstGeom prst="roundRect">
            <a:avLst>
              <a:gd name="adj" fmla="val 7500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5120640" y="2606040"/>
            <a:ext cx="50040" cy="1096920"/>
          </a:xfrm>
          <a:prstGeom prst="roundRect">
            <a:avLst>
              <a:gd name="adj" fmla="val 54545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5394960" y="2743200"/>
            <a:ext cx="598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DD4BF"/>
                </a:solidFill>
                <a:effectLst/>
                <a:uFillTx/>
                <a:latin typeface="Space Grotesk"/>
                <a:ea typeface="Space Grotesk"/>
              </a:rPr>
              <a:t>Runtime phase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5394960" y="3108960"/>
            <a:ext cx="6034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docker compose runs four containers on a shared bridge network; services resolve each other by name via Docker DNS.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1"/>
          <p:cNvSpPr/>
          <p:nvPr/>
        </p:nvSpPr>
        <p:spPr>
          <a:xfrm>
            <a:off x="5120640" y="3794760"/>
            <a:ext cx="6537600" cy="1096920"/>
          </a:xfrm>
          <a:prstGeom prst="roundRect">
            <a:avLst>
              <a:gd name="adj" fmla="val 7500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2"/>
          <p:cNvSpPr/>
          <p:nvPr/>
        </p:nvSpPr>
        <p:spPr>
          <a:xfrm>
            <a:off x="5120640" y="3794760"/>
            <a:ext cx="50040" cy="1096920"/>
          </a:xfrm>
          <a:prstGeom prst="roundRect">
            <a:avLst>
              <a:gd name="adj" fmla="val 54545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5394960" y="3931920"/>
            <a:ext cx="598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8BDF8"/>
                </a:solidFill>
                <a:effectLst/>
                <a:uFillTx/>
                <a:latin typeface="Space Grotesk"/>
                <a:ea typeface="Space Grotesk"/>
              </a:rPr>
              <a:t>AWS ALB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5394960" y="4297680"/>
            <a:ext cx="6034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Fronts the app on :80/:443 and forwards to :8080. Health check must be GET /login (200), not GET / (302).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5"/>
          <p:cNvSpPr/>
          <p:nvPr/>
        </p:nvSpPr>
        <p:spPr>
          <a:xfrm>
            <a:off x="5120640" y="4983480"/>
            <a:ext cx="6537600" cy="1096920"/>
          </a:xfrm>
          <a:prstGeom prst="roundRect">
            <a:avLst>
              <a:gd name="adj" fmla="val 7500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6"/>
          <p:cNvSpPr/>
          <p:nvPr/>
        </p:nvSpPr>
        <p:spPr>
          <a:xfrm>
            <a:off x="5120640" y="4983480"/>
            <a:ext cx="50040" cy="1096920"/>
          </a:xfrm>
          <a:prstGeom prst="roundRect">
            <a:avLst>
              <a:gd name="adj" fmla="val 54545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5394960" y="5120640"/>
            <a:ext cx="5988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ADE80"/>
                </a:solidFill>
                <a:effectLst/>
                <a:uFillTx/>
                <a:latin typeface="Space Grotesk"/>
                <a:ea typeface="Space Grotesk"/>
              </a:rPr>
              <a:t>Bastion EC2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5394960" y="5486400"/>
            <a:ext cx="6034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A jump host in the public subnet provides SSH access to the private EC2 host running the stack.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Image 0" descr="/home/claude/assets/sig.png"/>
          <p:cNvPicPr/>
          <p:nvPr/>
        </p:nvPicPr>
        <p:blipFill>
          <a:blip r:embed="rId2"/>
          <a:stretch/>
        </p:blipFill>
        <p:spPr>
          <a:xfrm>
            <a:off x="10222920" y="6163200"/>
            <a:ext cx="169128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0"/>
          <p:cNvSpPr/>
          <p:nvPr/>
        </p:nvSpPr>
        <p:spPr>
          <a:xfrm>
            <a:off x="457200" y="6327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06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640080" y="502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HOW THE IMAGE IS BUILT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62172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Multi-stage Build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640080" y="1828800"/>
            <a:ext cx="5074560" cy="2880000"/>
          </a:xfrm>
          <a:prstGeom prst="roundRect">
            <a:avLst>
              <a:gd name="adj" fmla="val 2857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640080" y="1828800"/>
            <a:ext cx="50040" cy="2880000"/>
          </a:xfrm>
          <a:prstGeom prst="roundRect">
            <a:avLst>
              <a:gd name="adj" fmla="val 54545"/>
            </a:avLst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960120" y="210312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Stage 1 · Builder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960120" y="269748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9F1C"/>
                </a:solidFill>
                <a:effectLst/>
                <a:uFillTx/>
                <a:latin typeface="JetBrains Mono"/>
                <a:ea typeface="JetBrains Mono"/>
              </a:rPr>
              <a:t>maven:3.9.9-temurin-8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960120" y="310896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mvn clean package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8"/>
          <p:cNvSpPr/>
          <p:nvPr/>
        </p:nvSpPr>
        <p:spPr>
          <a:xfrm>
            <a:off x="960120" y="3611880"/>
            <a:ext cx="4434840" cy="360"/>
          </a:xfrm>
          <a:prstGeom prst="line">
            <a:avLst/>
          </a:prstGeom>
          <a:ln w="12700">
            <a:solidFill>
              <a:srgbClr val="1F2C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960120" y="3749040"/>
            <a:ext cx="4434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Compiles the source into vprofile-v2.war. Contains the full JDK + Maven — this whole stage is discarded.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6492240" y="1828800"/>
            <a:ext cx="5074560" cy="2880000"/>
          </a:xfrm>
          <a:prstGeom prst="roundRect">
            <a:avLst>
              <a:gd name="adj" fmla="val 2857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1"/>
          <p:cNvSpPr/>
          <p:nvPr/>
        </p:nvSpPr>
        <p:spPr>
          <a:xfrm>
            <a:off x="6492240" y="1828800"/>
            <a:ext cx="50040" cy="2880000"/>
          </a:xfrm>
          <a:prstGeom prst="roundRect">
            <a:avLst>
              <a:gd name="adj" fmla="val 54545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6812280" y="210312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Stage 2 · Runtime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6812280" y="269748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tomcat:9-jre8-temurin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4"/>
          <p:cNvSpPr/>
          <p:nvPr/>
        </p:nvSpPr>
        <p:spPr>
          <a:xfrm>
            <a:off x="6812280" y="310896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COPY war → ROOT.war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5"/>
          <p:cNvSpPr/>
          <p:nvPr/>
        </p:nvSpPr>
        <p:spPr>
          <a:xfrm>
            <a:off x="6812280" y="3611880"/>
            <a:ext cx="4434840" cy="360"/>
          </a:xfrm>
          <a:prstGeom prst="line">
            <a:avLst/>
          </a:prstGeom>
          <a:ln w="12700">
            <a:solidFill>
              <a:srgbClr val="1F2C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6"/>
          <p:cNvSpPr/>
          <p:nvPr/>
        </p:nvSpPr>
        <p:spPr>
          <a:xfrm>
            <a:off x="6812280" y="3749040"/>
            <a:ext cx="4434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Slim JRE + Tomcat only. Runs as a non-root appuser. This is the only image that ships.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7"/>
          <p:cNvSpPr/>
          <p:nvPr/>
        </p:nvSpPr>
        <p:spPr>
          <a:xfrm>
            <a:off x="5870520" y="3063240"/>
            <a:ext cx="59400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640080" y="507492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2DD4BF"/>
                </a:solidFill>
                <a:effectLst/>
                <a:uFillTx/>
                <a:latin typeface="Space Grotesk"/>
                <a:ea typeface="Space Grotesk"/>
              </a:rPr>
              <a:t>Result: a smaller image with a reduced attack surface — no compiler, no source, no JDK in production.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Image 0" descr="/home/claude/assets/sig.png"/>
          <p:cNvPicPr/>
          <p:nvPr/>
        </p:nvPicPr>
        <p:blipFill>
          <a:blip r:embed="rId2"/>
          <a:stretch/>
        </p:blipFill>
        <p:spPr>
          <a:xfrm>
            <a:off x="10222920" y="6163200"/>
            <a:ext cx="169128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0"/>
          <p:cNvSpPr/>
          <p:nvPr/>
        </p:nvSpPr>
        <p:spPr>
          <a:xfrm>
            <a:off x="457200" y="6327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07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640080" y="502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MULTI-STAGE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62172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The Dockerfile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640080" y="1737360"/>
            <a:ext cx="6766200" cy="4480200"/>
          </a:xfrm>
          <a:prstGeom prst="roundRect">
            <a:avLst>
              <a:gd name="adj" fmla="val 1633"/>
            </a:avLst>
          </a:prstGeom>
          <a:solidFill>
            <a:srgbClr val="070B13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"/>
          <p:cNvSpPr/>
          <p:nvPr/>
        </p:nvSpPr>
        <p:spPr>
          <a:xfrm>
            <a:off x="868680" y="1920240"/>
            <a:ext cx="64004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25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# ---------- Build stage ----------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FROM maven:3.9.9-eclipse-temurin-8 AS builder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WORKDIR /build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COPY . 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RUN mvn -B clean package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# ---------- Runtime stage ----------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FROM tomcat:9-jre8-temurin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RUN groupadd -r appgroup &amp;&amp; useradd -r -g appgroup appuser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RUN rm -rf /usr/local/tomcat/webapps/*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COPY --from=builder --chown=appuser:appgroup \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9F1C"/>
                </a:solidFill>
                <a:effectLst/>
                <a:uFillTx/>
                <a:latin typeface="JetBrains Mono"/>
                <a:ea typeface="JetBrains Mono"/>
              </a:rPr>
              <a:t>     /build/target/vprofile-v2.war  ROOT.war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USER appuser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EXPOSE 8080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DE80"/>
                </a:solidFill>
                <a:effectLst/>
                <a:uFillTx/>
                <a:latin typeface="JetBrains Mono"/>
                <a:ea typeface="JetBrains Mono"/>
              </a:rPr>
              <a:t>CMD ["catalina.sh", "run"]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5"/>
          <p:cNvSpPr/>
          <p:nvPr/>
        </p:nvSpPr>
        <p:spPr>
          <a:xfrm>
            <a:off x="7772400" y="1783080"/>
            <a:ext cx="3794400" cy="1298160"/>
          </a:xfrm>
          <a:prstGeom prst="roundRect">
            <a:avLst>
              <a:gd name="adj" fmla="val 6338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6"/>
          <p:cNvSpPr/>
          <p:nvPr/>
        </p:nvSpPr>
        <p:spPr>
          <a:xfrm>
            <a:off x="7772400" y="1783080"/>
            <a:ext cx="50040" cy="1298160"/>
          </a:xfrm>
          <a:prstGeom prst="roundRect">
            <a:avLst>
              <a:gd name="adj" fmla="val 54545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7"/>
          <p:cNvSpPr/>
          <p:nvPr/>
        </p:nvSpPr>
        <p:spPr>
          <a:xfrm>
            <a:off x="8046720" y="194760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38BDF8"/>
                </a:solidFill>
                <a:effectLst/>
                <a:uFillTx/>
                <a:latin typeface="JetBrains Mono"/>
                <a:ea typeface="JetBrains Mono"/>
              </a:rPr>
              <a:t>COPY . 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8046720" y="233172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Source lives in the repo — no git clone inside the image.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7772400" y="3227760"/>
            <a:ext cx="3794400" cy="1298160"/>
          </a:xfrm>
          <a:prstGeom prst="roundRect">
            <a:avLst>
              <a:gd name="adj" fmla="val 6338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0"/>
          <p:cNvSpPr/>
          <p:nvPr/>
        </p:nvSpPr>
        <p:spPr>
          <a:xfrm>
            <a:off x="7772400" y="3227760"/>
            <a:ext cx="50040" cy="1298160"/>
          </a:xfrm>
          <a:prstGeom prst="roundRect">
            <a:avLst>
              <a:gd name="adj" fmla="val 54545"/>
            </a:avLst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8046720" y="339228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9F1C"/>
                </a:solidFill>
                <a:effectLst/>
                <a:uFillTx/>
                <a:latin typeface="JetBrains Mono"/>
                <a:ea typeface="JetBrains Mono"/>
              </a:rPr>
              <a:t>ROOT.war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8046720" y="377640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Deployed at / so the app answers on the web root.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3"/>
          <p:cNvSpPr/>
          <p:nvPr/>
        </p:nvSpPr>
        <p:spPr>
          <a:xfrm>
            <a:off x="7772400" y="4672440"/>
            <a:ext cx="3794400" cy="1298160"/>
          </a:xfrm>
          <a:prstGeom prst="roundRect">
            <a:avLst>
              <a:gd name="adj" fmla="val 6338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7772400" y="4672440"/>
            <a:ext cx="50040" cy="1298160"/>
          </a:xfrm>
          <a:prstGeom prst="roundRect">
            <a:avLst>
              <a:gd name="adj" fmla="val 54545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8046720" y="483732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non-root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8046720" y="522108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Runs as appuser; conf/ and lib/ stay root-owned.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Image 0" descr="/home/claude/assets/sig.png"/>
          <p:cNvPicPr/>
          <p:nvPr/>
        </p:nvPicPr>
        <p:blipFill>
          <a:blip r:embed="rId2"/>
          <a:stretch/>
        </p:blipFill>
        <p:spPr>
          <a:xfrm>
            <a:off x="10222920" y="6163200"/>
            <a:ext cx="169128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0"/>
          <p:cNvSpPr/>
          <p:nvPr/>
        </p:nvSpPr>
        <p:spPr>
          <a:xfrm>
            <a:off x="457200" y="6327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08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640080" y="502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ORCHESTRATION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62172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Docker Compose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640080" y="1737360"/>
            <a:ext cx="6400440" cy="4480200"/>
          </a:xfrm>
          <a:prstGeom prst="roundRect">
            <a:avLst>
              <a:gd name="adj" fmla="val 1633"/>
            </a:avLst>
          </a:prstGeom>
          <a:solidFill>
            <a:srgbClr val="070B13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868680" y="1920240"/>
            <a:ext cx="60346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250" b="0" u="none" strike="noStrike">
                <a:solidFill>
                  <a:srgbClr val="A78BFA"/>
                </a:solidFill>
                <a:effectLst/>
                <a:uFillTx/>
                <a:latin typeface="JetBrains Mono"/>
                <a:ea typeface="JetBrains Mono"/>
              </a:rPr>
              <a:t>services: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  app: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    build: 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    ports: ["8080:8080"]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    depends_on: [db01, rmq01, mc01]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  db01: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    image: mysql:8.0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    volumes: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      - db_data:/var/lib/mysql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      - ./db_backup.sql:/docker-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        entrypoint-initdb.d/...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  rmq01:  image: rabbitmq:3-management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  mc01:   image: memcached:1.6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DE80"/>
                </a:solidFill>
                <a:effectLst/>
                <a:uFillTx/>
                <a:latin typeface="JetBrains Mono"/>
                <a:ea typeface="JetBrains Mono"/>
              </a:rPr>
              <a:t>volumes: { db_data: }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5"/>
          <p:cNvSpPr/>
          <p:nvPr/>
        </p:nvSpPr>
        <p:spPr>
          <a:xfrm>
            <a:off x="7406640" y="1828800"/>
            <a:ext cx="4160160" cy="1828440"/>
          </a:xfrm>
          <a:prstGeom prst="roundRect">
            <a:avLst>
              <a:gd name="adj" fmla="val 4500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6"/>
          <p:cNvSpPr/>
          <p:nvPr/>
        </p:nvSpPr>
        <p:spPr>
          <a:xfrm>
            <a:off x="7406640" y="1828800"/>
            <a:ext cx="50040" cy="1828440"/>
          </a:xfrm>
          <a:prstGeom prst="roundRect">
            <a:avLst>
              <a:gd name="adj" fmla="val 54545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7680960" y="20116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DD4BF"/>
                </a:solidFill>
                <a:effectLst/>
                <a:uFillTx/>
                <a:latin typeface="Space Grotesk"/>
                <a:ea typeface="Space Grotesk"/>
              </a:rPr>
              <a:t>Service discovery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7680960" y="242316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Each service reaches the others by name (db01 / rmq01 / mc01), resolved by Docker's internal DNS.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9"/>
          <p:cNvSpPr/>
          <p:nvPr/>
        </p:nvSpPr>
        <p:spPr>
          <a:xfrm>
            <a:off x="7406640" y="3886200"/>
            <a:ext cx="4160160" cy="1965600"/>
          </a:xfrm>
          <a:prstGeom prst="roundRect">
            <a:avLst>
              <a:gd name="adj" fmla="val 4186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0"/>
          <p:cNvSpPr/>
          <p:nvPr/>
        </p:nvSpPr>
        <p:spPr>
          <a:xfrm>
            <a:off x="7406640" y="3886200"/>
            <a:ext cx="50040" cy="1965600"/>
          </a:xfrm>
          <a:prstGeom prst="roundRect">
            <a:avLst>
              <a:gd name="adj" fmla="val 54545"/>
            </a:avLst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7680960" y="40690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9F1C"/>
                </a:solidFill>
                <a:effectLst/>
                <a:uFillTx/>
                <a:latin typeface="Space Grotesk"/>
                <a:ea typeface="Space Grotesk"/>
              </a:rPr>
              <a:t>depends_on ≠ ready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7680960" y="4480560"/>
            <a:ext cx="3657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It waits for a container to START, not to be READY. Add a healthcheck with condition: service_healthy for deterministic startup.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Image 0" descr="/home/claude/assets/sig.png"/>
          <p:cNvPicPr/>
          <p:nvPr/>
        </p:nvPicPr>
        <p:blipFill>
          <a:blip r:embed="rId2"/>
          <a:stretch/>
        </p:blipFill>
        <p:spPr>
          <a:xfrm>
            <a:off x="10222920" y="6163200"/>
            <a:ext cx="169128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0"/>
          <p:cNvSpPr/>
          <p:nvPr/>
        </p:nvSpPr>
        <p:spPr>
          <a:xfrm>
            <a:off x="457200" y="6327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09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640080" y="502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STEP BY STEP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"/>
          <p:cNvSpPr/>
          <p:nvPr/>
        </p:nvSpPr>
        <p:spPr>
          <a:xfrm>
            <a:off x="62172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Deploy from Scratch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685800" y="1645920"/>
            <a:ext cx="548280" cy="548280"/>
          </a:xfrm>
          <a:prstGeom prst="ellipse">
            <a:avLst/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4"/>
          <p:cNvSpPr/>
          <p:nvPr/>
        </p:nvSpPr>
        <p:spPr>
          <a:xfrm>
            <a:off x="685800" y="16459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1417320" y="162756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Clone the repository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6"/>
          <p:cNvSpPr/>
          <p:nvPr/>
        </p:nvSpPr>
        <p:spPr>
          <a:xfrm>
            <a:off x="5760720" y="1673280"/>
            <a:ext cx="5851800" cy="502560"/>
          </a:xfrm>
          <a:prstGeom prst="roundRect">
            <a:avLst>
              <a:gd name="adj" fmla="val 10909"/>
            </a:avLst>
          </a:prstGeom>
          <a:solidFill>
            <a:srgbClr val="070B13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7"/>
          <p:cNvSpPr/>
          <p:nvPr/>
        </p:nvSpPr>
        <p:spPr>
          <a:xfrm>
            <a:off x="5943600" y="167328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$ </a:t>
            </a: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git clone &lt;repo&gt; &amp;&amp; cd vprofile-docker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8"/>
          <p:cNvSpPr/>
          <p:nvPr/>
        </p:nvSpPr>
        <p:spPr>
          <a:xfrm>
            <a:off x="685800" y="2377440"/>
            <a:ext cx="548280" cy="5482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9"/>
          <p:cNvSpPr/>
          <p:nvPr/>
        </p:nvSpPr>
        <p:spPr>
          <a:xfrm>
            <a:off x="685800" y="237744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0"/>
          <p:cNvSpPr/>
          <p:nvPr/>
        </p:nvSpPr>
        <p:spPr>
          <a:xfrm>
            <a:off x="1417320" y="235908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Build and start the stack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1"/>
          <p:cNvSpPr/>
          <p:nvPr/>
        </p:nvSpPr>
        <p:spPr>
          <a:xfrm>
            <a:off x="5760720" y="2404800"/>
            <a:ext cx="5851800" cy="502560"/>
          </a:xfrm>
          <a:prstGeom prst="roundRect">
            <a:avLst>
              <a:gd name="adj" fmla="val 10909"/>
            </a:avLst>
          </a:prstGeom>
          <a:solidFill>
            <a:srgbClr val="070B13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2"/>
          <p:cNvSpPr/>
          <p:nvPr/>
        </p:nvSpPr>
        <p:spPr>
          <a:xfrm>
            <a:off x="5943600" y="240480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$ </a:t>
            </a: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docker compose up --build -d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3"/>
          <p:cNvSpPr/>
          <p:nvPr/>
        </p:nvSpPr>
        <p:spPr>
          <a:xfrm>
            <a:off x="685800" y="3108960"/>
            <a:ext cx="548280" cy="548280"/>
          </a:xfrm>
          <a:prstGeom prst="ellipse">
            <a:avLst/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4"/>
          <p:cNvSpPr/>
          <p:nvPr/>
        </p:nvSpPr>
        <p:spPr>
          <a:xfrm>
            <a:off x="685800" y="31089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1417320" y="309060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Verify the containers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6"/>
          <p:cNvSpPr/>
          <p:nvPr/>
        </p:nvSpPr>
        <p:spPr>
          <a:xfrm>
            <a:off x="5760720" y="3136320"/>
            <a:ext cx="5851800" cy="502560"/>
          </a:xfrm>
          <a:prstGeom prst="roundRect">
            <a:avLst>
              <a:gd name="adj" fmla="val 10909"/>
            </a:avLst>
          </a:prstGeom>
          <a:solidFill>
            <a:srgbClr val="070B13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7"/>
          <p:cNvSpPr/>
          <p:nvPr/>
        </p:nvSpPr>
        <p:spPr>
          <a:xfrm>
            <a:off x="5943600" y="313632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$ </a:t>
            </a: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docker compose ps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8"/>
          <p:cNvSpPr/>
          <p:nvPr/>
        </p:nvSpPr>
        <p:spPr>
          <a:xfrm>
            <a:off x="685800" y="3840480"/>
            <a:ext cx="548280" cy="5482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9"/>
          <p:cNvSpPr/>
          <p:nvPr/>
        </p:nvSpPr>
        <p:spPr>
          <a:xfrm>
            <a:off x="685800" y="384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0"/>
          <p:cNvSpPr/>
          <p:nvPr/>
        </p:nvSpPr>
        <p:spPr>
          <a:xfrm>
            <a:off x="1417320" y="382212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Follow the app logs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1"/>
          <p:cNvSpPr/>
          <p:nvPr/>
        </p:nvSpPr>
        <p:spPr>
          <a:xfrm>
            <a:off x="5760720" y="3867840"/>
            <a:ext cx="5851800" cy="502560"/>
          </a:xfrm>
          <a:prstGeom prst="roundRect">
            <a:avLst>
              <a:gd name="adj" fmla="val 10909"/>
            </a:avLst>
          </a:prstGeom>
          <a:solidFill>
            <a:srgbClr val="070B13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2"/>
          <p:cNvSpPr/>
          <p:nvPr/>
        </p:nvSpPr>
        <p:spPr>
          <a:xfrm>
            <a:off x="5943600" y="386784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$ </a:t>
            </a: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docker compose logs -f app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3"/>
          <p:cNvSpPr/>
          <p:nvPr/>
        </p:nvSpPr>
        <p:spPr>
          <a:xfrm>
            <a:off x="685800" y="4572000"/>
            <a:ext cx="548280" cy="548280"/>
          </a:xfrm>
          <a:prstGeom prst="ellipse">
            <a:avLst/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4"/>
          <p:cNvSpPr/>
          <p:nvPr/>
        </p:nvSpPr>
        <p:spPr>
          <a:xfrm>
            <a:off x="685800" y="45720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5"/>
          <p:cNvSpPr/>
          <p:nvPr/>
        </p:nvSpPr>
        <p:spPr>
          <a:xfrm>
            <a:off x="1417320" y="455364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Open the application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6"/>
          <p:cNvSpPr/>
          <p:nvPr/>
        </p:nvSpPr>
        <p:spPr>
          <a:xfrm>
            <a:off x="5760720" y="4599360"/>
            <a:ext cx="5851800" cy="502560"/>
          </a:xfrm>
          <a:prstGeom prst="roundRect">
            <a:avLst>
              <a:gd name="adj" fmla="val 10909"/>
            </a:avLst>
          </a:prstGeom>
          <a:solidFill>
            <a:srgbClr val="070B13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7"/>
          <p:cNvSpPr/>
          <p:nvPr/>
        </p:nvSpPr>
        <p:spPr>
          <a:xfrm>
            <a:off x="5943600" y="459936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$ </a:t>
            </a: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http://localhost:8080   (login page)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8"/>
          <p:cNvSpPr/>
          <p:nvPr/>
        </p:nvSpPr>
        <p:spPr>
          <a:xfrm>
            <a:off x="685800" y="5303520"/>
            <a:ext cx="548280" cy="5482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9"/>
          <p:cNvSpPr/>
          <p:nvPr/>
        </p:nvSpPr>
        <p:spPr>
          <a:xfrm>
            <a:off x="685800" y="53035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A0F1A"/>
                </a:solidFill>
                <a:effectLst/>
                <a:uFillTx/>
                <a:latin typeface="JetBrains Mono"/>
                <a:ea typeface="JetBrains Mono"/>
              </a:rPr>
              <a:t>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0"/>
          <p:cNvSpPr/>
          <p:nvPr/>
        </p:nvSpPr>
        <p:spPr>
          <a:xfrm>
            <a:off x="1417320" y="528516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Stop and clean up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1"/>
          <p:cNvSpPr/>
          <p:nvPr/>
        </p:nvSpPr>
        <p:spPr>
          <a:xfrm>
            <a:off x="5760720" y="5330880"/>
            <a:ext cx="5851800" cy="502560"/>
          </a:xfrm>
          <a:prstGeom prst="roundRect">
            <a:avLst>
              <a:gd name="adj" fmla="val 10909"/>
            </a:avLst>
          </a:prstGeom>
          <a:solidFill>
            <a:srgbClr val="070B13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2"/>
          <p:cNvSpPr/>
          <p:nvPr/>
        </p:nvSpPr>
        <p:spPr>
          <a:xfrm>
            <a:off x="5943600" y="5330880"/>
            <a:ext cx="5577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$ </a:t>
            </a:r>
            <a:r>
              <a:rPr lang="en-US" sz="125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docker compose down  ·  down -v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Image 0" descr="/home/claude/assets/sig.png"/>
          <p:cNvPicPr/>
          <p:nvPr/>
        </p:nvPicPr>
        <p:blipFill>
          <a:blip r:embed="rId2"/>
          <a:stretch/>
        </p:blipFill>
        <p:spPr>
          <a:xfrm>
            <a:off x="10222920" y="6163200"/>
            <a:ext cx="169128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 0"/>
          <p:cNvSpPr/>
          <p:nvPr/>
        </p:nvSpPr>
        <p:spPr>
          <a:xfrm>
            <a:off x="457200" y="6327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640080" y="502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WHAT'S NEEDED VS EXTRA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62172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Project Structure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594720" y="1783440"/>
            <a:ext cx="6034680" cy="4160160"/>
          </a:xfrm>
          <a:prstGeom prst="roundRect">
            <a:avLst>
              <a:gd name="adj" fmla="val 1758"/>
            </a:avLst>
          </a:prstGeom>
          <a:solidFill>
            <a:srgbClr val="070B13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914400" y="1783440"/>
            <a:ext cx="566892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sourcecodeseniorwr/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DE80"/>
                </a:solidFill>
                <a:effectLst/>
                <a:uFillTx/>
                <a:latin typeface="JetBrains Mono"/>
                <a:ea typeface="JetBrains Mono"/>
              </a:rPr>
              <a:t>├── Dockerfile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DE80"/>
                </a:solidFill>
                <a:effectLst/>
                <a:uFillTx/>
                <a:latin typeface="JetBrains Mono"/>
                <a:ea typeface="JetBrains Mono"/>
              </a:rPr>
              <a:t>├── docker-compose.yml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DE80"/>
                </a:solidFill>
                <a:effectLst/>
                <a:uFillTx/>
                <a:latin typeface="JetBrains Mono"/>
                <a:ea typeface="JetBrains Mono"/>
              </a:rPr>
              <a:t>├── .dockerignore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DE80"/>
                </a:solidFill>
                <a:effectLst/>
                <a:uFillTx/>
                <a:latin typeface="JetBrains Mono"/>
                <a:ea typeface="JetBrains Mono"/>
              </a:rPr>
              <a:t>├── pom.xml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BF5"/>
                </a:solidFill>
                <a:effectLst/>
                <a:uFillTx/>
                <a:latin typeface="JetBrains Mono"/>
                <a:ea typeface="JetBrains Mono"/>
              </a:rPr>
              <a:t>├── src/main/resources/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DE80"/>
                </a:solidFill>
                <a:effectLst/>
                <a:uFillTx/>
                <a:latin typeface="JetBrains Mono"/>
                <a:ea typeface="JetBrains Mono"/>
              </a:rPr>
              <a:t>│     ├── application.properties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DE80"/>
                </a:solidFill>
                <a:effectLst/>
                <a:uFillTx/>
                <a:latin typeface="JetBrains Mono"/>
                <a:ea typeface="JetBrains Mono"/>
              </a:rPr>
              <a:t>│     └── db_backup.sql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87171"/>
                </a:solidFill>
                <a:effectLst/>
                <a:uFillTx/>
                <a:latin typeface="JetBrains Mono"/>
                <a:ea typeface="JetBrains Mono"/>
              </a:rPr>
              <a:t>├── target/          105MB · rebuilt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87171"/>
                </a:solidFill>
                <a:effectLst/>
                <a:uFillTx/>
                <a:latin typeface="JetBrains Mono"/>
                <a:ea typeface="JetBrains Mono"/>
              </a:rPr>
              <a:t>├── db/db_backup.sql/  empty dir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└── .git/            vcs only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2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5"/>
          <p:cNvSpPr/>
          <p:nvPr/>
        </p:nvSpPr>
        <p:spPr>
          <a:xfrm>
            <a:off x="6995160" y="1783080"/>
            <a:ext cx="4571640" cy="1919880"/>
          </a:xfrm>
          <a:prstGeom prst="roundRect">
            <a:avLst>
              <a:gd name="adj" fmla="val 4286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6"/>
          <p:cNvSpPr/>
          <p:nvPr/>
        </p:nvSpPr>
        <p:spPr>
          <a:xfrm>
            <a:off x="6995160" y="1783080"/>
            <a:ext cx="50040" cy="1919880"/>
          </a:xfrm>
          <a:prstGeom prst="roundRect">
            <a:avLst>
              <a:gd name="adj" fmla="val 54545"/>
            </a:avLst>
          </a:prstGeom>
          <a:solidFill>
            <a:srgbClr val="4AD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7269480" y="19659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4ADE80"/>
                </a:solidFill>
                <a:effectLst/>
                <a:uFillTx/>
                <a:latin typeface="Space Grotesk"/>
                <a:ea typeface="Space Grotesk"/>
              </a:rPr>
              <a:t>Required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7269480" y="2377440"/>
            <a:ext cx="4114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Dockerfile, compose, .dockerignore, pom.xml, src/, application.properties and db_backup.sql.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9"/>
          <p:cNvSpPr/>
          <p:nvPr/>
        </p:nvSpPr>
        <p:spPr>
          <a:xfrm>
            <a:off x="6995160" y="3886200"/>
            <a:ext cx="4571640" cy="2057040"/>
          </a:xfrm>
          <a:prstGeom prst="roundRect">
            <a:avLst>
              <a:gd name="adj" fmla="val 4000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0"/>
          <p:cNvSpPr/>
          <p:nvPr/>
        </p:nvSpPr>
        <p:spPr>
          <a:xfrm>
            <a:off x="6995160" y="3886200"/>
            <a:ext cx="50040" cy="2057040"/>
          </a:xfrm>
          <a:prstGeom prst="roundRect">
            <a:avLst>
              <a:gd name="adj" fmla="val 54545"/>
            </a:avLst>
          </a:prstGeom>
          <a:solidFill>
            <a:srgbClr val="F871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7269480" y="40690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87171"/>
                </a:solidFill>
                <a:effectLst/>
                <a:uFillTx/>
                <a:latin typeface="Space Grotesk"/>
                <a:ea typeface="Space Grotesk"/>
              </a:rPr>
              <a:t>Extra / removable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7269480" y="4480560"/>
            <a:ext cx="4114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target/ (rebuilt inside the image) and the empty db/ folder. Both are already excluded by .dockerignore.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Image 0" descr="/home/claude/assets/sig.png"/>
          <p:cNvPicPr/>
          <p:nvPr/>
        </p:nvPicPr>
        <p:blipFill>
          <a:blip r:embed="rId2"/>
          <a:stretch/>
        </p:blipFill>
        <p:spPr>
          <a:xfrm>
            <a:off x="10222920" y="6163200"/>
            <a:ext cx="169128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0"/>
          <p:cNvSpPr/>
          <p:nvPr/>
        </p:nvSpPr>
        <p:spPr>
          <a:xfrm>
            <a:off x="457200" y="6327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640080" y="502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MIGRATION MAPPING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62172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On-prem to Docker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777240" y="178308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COMPONENT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4069080" y="17830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ON-PREM (VAGRANT VM)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8092440" y="178308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DOCKER COMPOSE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640080" y="2240280"/>
            <a:ext cx="11338560" cy="360"/>
          </a:xfrm>
          <a:prstGeom prst="line">
            <a:avLst/>
          </a:prstGeom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777240" y="2350080"/>
            <a:ext cx="3108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Database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4069080" y="2350080"/>
            <a:ext cx="384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db01 — VM · MariaDB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8092440" y="2350080"/>
            <a:ext cx="384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db01 — mysql:8.0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0"/>
          <p:cNvSpPr/>
          <p:nvPr/>
        </p:nvSpPr>
        <p:spPr>
          <a:xfrm>
            <a:off x="640080" y="2953440"/>
            <a:ext cx="11338560" cy="360"/>
          </a:xfrm>
          <a:prstGeom prst="line">
            <a:avLst/>
          </a:prstGeom>
          <a:ln w="9525">
            <a:solidFill>
              <a:srgbClr val="1F2C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777240" y="2953440"/>
            <a:ext cx="3108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Cache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4069080" y="2953440"/>
            <a:ext cx="384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mc01 — VM · Memcached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8092440" y="2953440"/>
            <a:ext cx="384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mc01 — memcached:1.6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640080" y="3556800"/>
            <a:ext cx="11338560" cy="360"/>
          </a:xfrm>
          <a:prstGeom prst="line">
            <a:avLst/>
          </a:prstGeom>
          <a:ln w="9525">
            <a:solidFill>
              <a:srgbClr val="1F2C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5"/>
          <p:cNvSpPr/>
          <p:nvPr/>
        </p:nvSpPr>
        <p:spPr>
          <a:xfrm>
            <a:off x="777240" y="3557160"/>
            <a:ext cx="3108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Message broker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4069080" y="3557160"/>
            <a:ext cx="384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rmq01 — VM · RabbitMQ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8092440" y="3557160"/>
            <a:ext cx="384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rmq01 — rabbitmq:3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8"/>
          <p:cNvSpPr/>
          <p:nvPr/>
        </p:nvSpPr>
        <p:spPr>
          <a:xfrm>
            <a:off x="640080" y="4160520"/>
            <a:ext cx="11338560" cy="360"/>
          </a:xfrm>
          <a:prstGeom prst="line">
            <a:avLst/>
          </a:prstGeom>
          <a:ln w="9525">
            <a:solidFill>
              <a:srgbClr val="1F2C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9"/>
          <p:cNvSpPr/>
          <p:nvPr/>
        </p:nvSpPr>
        <p:spPr>
          <a:xfrm>
            <a:off x="777240" y="4160520"/>
            <a:ext cx="3108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Application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0"/>
          <p:cNvSpPr/>
          <p:nvPr/>
        </p:nvSpPr>
        <p:spPr>
          <a:xfrm>
            <a:off x="4069080" y="4160520"/>
            <a:ext cx="384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app01 — VM · tomcat.sh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1"/>
          <p:cNvSpPr/>
          <p:nvPr/>
        </p:nvSpPr>
        <p:spPr>
          <a:xfrm>
            <a:off x="8092440" y="4160520"/>
            <a:ext cx="384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app — multi-stage image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2"/>
          <p:cNvSpPr/>
          <p:nvPr/>
        </p:nvSpPr>
        <p:spPr>
          <a:xfrm>
            <a:off x="640080" y="4763880"/>
            <a:ext cx="11338560" cy="360"/>
          </a:xfrm>
          <a:prstGeom prst="line">
            <a:avLst/>
          </a:prstGeom>
          <a:ln w="9525">
            <a:solidFill>
              <a:srgbClr val="1F2C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3"/>
          <p:cNvSpPr/>
          <p:nvPr/>
        </p:nvSpPr>
        <p:spPr>
          <a:xfrm>
            <a:off x="777240" y="4763880"/>
            <a:ext cx="3108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Reverse proxy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4"/>
          <p:cNvSpPr/>
          <p:nvPr/>
        </p:nvSpPr>
        <p:spPr>
          <a:xfrm>
            <a:off x="4069080" y="4763880"/>
            <a:ext cx="384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web01 — VM · Nginx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5"/>
          <p:cNvSpPr/>
          <p:nvPr/>
        </p:nvSpPr>
        <p:spPr>
          <a:xfrm>
            <a:off x="8092440" y="4763880"/>
            <a:ext cx="384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not included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6"/>
          <p:cNvSpPr/>
          <p:nvPr/>
        </p:nvSpPr>
        <p:spPr>
          <a:xfrm>
            <a:off x="640080" y="5367240"/>
            <a:ext cx="11338560" cy="360"/>
          </a:xfrm>
          <a:prstGeom prst="line">
            <a:avLst/>
          </a:prstGeom>
          <a:ln w="9525">
            <a:solidFill>
              <a:srgbClr val="1F2C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7"/>
          <p:cNvSpPr/>
          <p:nvPr/>
        </p:nvSpPr>
        <p:spPr>
          <a:xfrm>
            <a:off x="777240" y="5367600"/>
            <a:ext cx="3108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Name resolution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8"/>
          <p:cNvSpPr/>
          <p:nvPr/>
        </p:nvSpPr>
        <p:spPr>
          <a:xfrm>
            <a:off x="4069080" y="5367600"/>
            <a:ext cx="384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0CC"/>
                </a:solidFill>
                <a:effectLst/>
                <a:uFillTx/>
                <a:latin typeface="JetBrains Mono"/>
                <a:ea typeface="JetBrains Mono"/>
              </a:rPr>
              <a:t>hostmanager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9"/>
          <p:cNvSpPr/>
          <p:nvPr/>
        </p:nvSpPr>
        <p:spPr>
          <a:xfrm>
            <a:off x="8092440" y="5367600"/>
            <a:ext cx="3840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Docker internal DNS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Image 0" descr="/home/claude/assets/sig.png"/>
          <p:cNvPicPr/>
          <p:nvPr/>
        </p:nvPicPr>
        <p:blipFill>
          <a:blip r:embed="rId2"/>
          <a:stretch/>
        </p:blipFill>
        <p:spPr>
          <a:xfrm>
            <a:off x="10222920" y="6163200"/>
            <a:ext cx="169128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Text 0"/>
          <p:cNvSpPr/>
          <p:nvPr/>
        </p:nvSpPr>
        <p:spPr>
          <a:xfrm>
            <a:off x="457200" y="6327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"/>
          <p:cNvSpPr/>
          <p:nvPr/>
        </p:nvSpPr>
        <p:spPr>
          <a:xfrm>
            <a:off x="640080" y="502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THINGS TO WATCH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62172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Notes &amp; Gotchas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"/>
          <p:cNvSpPr/>
          <p:nvPr/>
        </p:nvSpPr>
        <p:spPr>
          <a:xfrm>
            <a:off x="640080" y="1737360"/>
            <a:ext cx="5394600" cy="1965600"/>
          </a:xfrm>
          <a:prstGeom prst="roundRect">
            <a:avLst>
              <a:gd name="adj" fmla="val 4186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4"/>
          <p:cNvSpPr/>
          <p:nvPr/>
        </p:nvSpPr>
        <p:spPr>
          <a:xfrm>
            <a:off x="640080" y="1737360"/>
            <a:ext cx="50040" cy="1965600"/>
          </a:xfrm>
          <a:prstGeom prst="roundRect">
            <a:avLst>
              <a:gd name="adj" fmla="val 54545"/>
            </a:avLst>
          </a:prstGeom>
          <a:solidFill>
            <a:srgbClr val="FF9F1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5"/>
          <p:cNvSpPr/>
          <p:nvPr/>
        </p:nvSpPr>
        <p:spPr>
          <a:xfrm>
            <a:off x="960120" y="199332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9F1C"/>
                </a:solidFill>
                <a:effectLst/>
                <a:uFillTx/>
                <a:latin typeface="Space Grotesk"/>
                <a:ea typeface="Space Grotesk"/>
              </a:rPr>
              <a:t>Health check path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6"/>
          <p:cNvSpPr/>
          <p:nvPr/>
        </p:nvSpPr>
        <p:spPr>
          <a:xfrm>
            <a:off x="960120" y="2560320"/>
            <a:ext cx="4800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The ALB health check must be GET /login (returns 200). GET / returns a 302 redirect and marks the target unhealthy.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7"/>
          <p:cNvSpPr/>
          <p:nvPr/>
        </p:nvSpPr>
        <p:spPr>
          <a:xfrm>
            <a:off x="6355080" y="1737360"/>
            <a:ext cx="5394600" cy="1965600"/>
          </a:xfrm>
          <a:prstGeom prst="roundRect">
            <a:avLst>
              <a:gd name="adj" fmla="val 4186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8"/>
          <p:cNvSpPr/>
          <p:nvPr/>
        </p:nvSpPr>
        <p:spPr>
          <a:xfrm>
            <a:off x="6355080" y="1737360"/>
            <a:ext cx="50040" cy="1965600"/>
          </a:xfrm>
          <a:prstGeom prst="roundRect">
            <a:avLst>
              <a:gd name="adj" fmla="val 54545"/>
            </a:avLst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9"/>
          <p:cNvSpPr/>
          <p:nvPr/>
        </p:nvSpPr>
        <p:spPr>
          <a:xfrm>
            <a:off x="6675120" y="199332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8BDF8"/>
                </a:solidFill>
                <a:effectLst/>
                <a:uFillTx/>
                <a:latin typeface="Space Grotesk"/>
                <a:ea typeface="Space Grotesk"/>
              </a:rPr>
              <a:t>depends_on isn't readiness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0"/>
          <p:cNvSpPr/>
          <p:nvPr/>
        </p:nvSpPr>
        <p:spPr>
          <a:xfrm>
            <a:off x="6675120" y="2560320"/>
            <a:ext cx="4800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Add a healthcheck to db01 with condition: service_healthy so the app doesn't race MySQL's initialization.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1"/>
          <p:cNvSpPr/>
          <p:nvPr/>
        </p:nvSpPr>
        <p:spPr>
          <a:xfrm>
            <a:off x="640080" y="3959280"/>
            <a:ext cx="5394600" cy="1965600"/>
          </a:xfrm>
          <a:prstGeom prst="roundRect">
            <a:avLst>
              <a:gd name="adj" fmla="val 4186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640080" y="3959280"/>
            <a:ext cx="50040" cy="1965600"/>
          </a:xfrm>
          <a:prstGeom prst="roundRect">
            <a:avLst>
              <a:gd name="adj" fmla="val 54545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3"/>
          <p:cNvSpPr/>
          <p:nvPr/>
        </p:nvSpPr>
        <p:spPr>
          <a:xfrm>
            <a:off x="960120" y="421524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A78BFA"/>
                </a:solidFill>
                <a:effectLst/>
                <a:uFillTx/>
                <a:latin typeface="Space Grotesk"/>
                <a:ea typeface="Space Grotesk"/>
              </a:rPr>
              <a:t>No Nginx / Elasticsearch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4"/>
          <p:cNvSpPr/>
          <p:nvPr/>
        </p:nvSpPr>
        <p:spPr>
          <a:xfrm>
            <a:off x="960120" y="4782240"/>
            <a:ext cx="4800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The app is exposed on :8080 directly. application.properties still references vprosearch01 — search won't resolve, but the app starts fine.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5"/>
          <p:cNvSpPr/>
          <p:nvPr/>
        </p:nvSpPr>
        <p:spPr>
          <a:xfrm>
            <a:off x="6355080" y="3959280"/>
            <a:ext cx="5394600" cy="1965600"/>
          </a:xfrm>
          <a:prstGeom prst="roundRect">
            <a:avLst>
              <a:gd name="adj" fmla="val 4186"/>
            </a:avLst>
          </a:prstGeom>
          <a:solidFill>
            <a:srgbClr val="111A2E"/>
          </a:solidFill>
          <a:ln w="12700">
            <a:solidFill>
              <a:srgbClr val="2A3B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6"/>
          <p:cNvSpPr/>
          <p:nvPr/>
        </p:nvSpPr>
        <p:spPr>
          <a:xfrm>
            <a:off x="6355080" y="3959280"/>
            <a:ext cx="50040" cy="1965600"/>
          </a:xfrm>
          <a:prstGeom prst="roundRect">
            <a:avLst>
              <a:gd name="adj" fmla="val 54545"/>
            </a:avLst>
          </a:prstGeom>
          <a:solidFill>
            <a:srgbClr val="F871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7"/>
          <p:cNvSpPr/>
          <p:nvPr/>
        </p:nvSpPr>
        <p:spPr>
          <a:xfrm>
            <a:off x="6675120" y="421524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87171"/>
                </a:solidFill>
                <a:effectLst/>
                <a:uFillTx/>
                <a:latin typeface="Space Grotesk"/>
                <a:ea typeface="Space Grotesk"/>
              </a:rPr>
              <a:t>Secrets are inline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8"/>
          <p:cNvSpPr/>
          <p:nvPr/>
        </p:nvSpPr>
        <p:spPr>
          <a:xfrm>
            <a:off x="6675120" y="4782240"/>
            <a:ext cx="4800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FB0CC"/>
                </a:solidFill>
                <a:effectLst/>
                <a:uFillTx/>
                <a:latin typeface="Space Grotesk"/>
                <a:ea typeface="Space Grotesk"/>
              </a:rPr>
              <a:t>Move credentials to a .env file or Docker secrets before any shared or staging deployment.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Image 0" descr="/home/claude/assets/sig.png"/>
          <p:cNvPicPr/>
          <p:nvPr/>
        </p:nvPicPr>
        <p:blipFill>
          <a:blip r:embed="rId2"/>
          <a:stretch/>
        </p:blipFill>
        <p:spPr>
          <a:xfrm>
            <a:off x="10222920" y="6163200"/>
            <a:ext cx="1691280" cy="5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 0"/>
          <p:cNvSpPr/>
          <p:nvPr/>
        </p:nvSpPr>
        <p:spPr>
          <a:xfrm>
            <a:off x="457200" y="632772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D7F9E"/>
                </a:solidFill>
                <a:effectLst/>
                <a:uFillTx/>
                <a:latin typeface="JetBrains Mono"/>
                <a:ea typeface="JetBrains Mono"/>
              </a:rPr>
              <a:t>13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"/>
          <p:cNvSpPr/>
          <p:nvPr/>
        </p:nvSpPr>
        <p:spPr>
          <a:xfrm>
            <a:off x="640080" y="5029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HARDENING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"/>
          <p:cNvSpPr/>
          <p:nvPr/>
        </p:nvSpPr>
        <p:spPr>
          <a:xfrm>
            <a:off x="621720" y="74988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Production Roadmap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3"/>
          <p:cNvSpPr/>
          <p:nvPr/>
        </p:nvSpPr>
        <p:spPr>
          <a:xfrm>
            <a:off x="777240" y="17830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905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4"/>
          <p:cNvSpPr/>
          <p:nvPr/>
        </p:nvSpPr>
        <p:spPr>
          <a:xfrm>
            <a:off x="777240" y="1783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D4BF"/>
                </a:solidFill>
                <a:effectLst/>
                <a:uFillTx/>
                <a:latin typeface="Space Grotesk"/>
                <a:ea typeface="Space Grotesk"/>
              </a:rPr>
              <a:t>✓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5"/>
          <p:cNvSpPr/>
          <p:nvPr/>
        </p:nvSpPr>
        <p:spPr>
          <a:xfrm>
            <a:off x="1463040" y="173736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Add healthcheck blocks for every service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6"/>
          <p:cNvSpPr/>
          <p:nvPr/>
        </p:nvSpPr>
        <p:spPr>
          <a:xfrm>
            <a:off x="777240" y="24778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905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7"/>
          <p:cNvSpPr/>
          <p:nvPr/>
        </p:nvSpPr>
        <p:spPr>
          <a:xfrm>
            <a:off x="777240" y="2477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D4BF"/>
                </a:solidFill>
                <a:effectLst/>
                <a:uFillTx/>
                <a:latin typeface="Space Grotesk"/>
                <a:ea typeface="Space Grotesk"/>
              </a:rPr>
              <a:t>✓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8"/>
          <p:cNvSpPr/>
          <p:nvPr/>
        </p:nvSpPr>
        <p:spPr>
          <a:xfrm>
            <a:off x="1463040" y="243216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Move credentials to .env / Docker secrets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9"/>
          <p:cNvSpPr/>
          <p:nvPr/>
        </p:nvSpPr>
        <p:spPr>
          <a:xfrm>
            <a:off x="777240" y="317304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905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0"/>
          <p:cNvSpPr/>
          <p:nvPr/>
        </p:nvSpPr>
        <p:spPr>
          <a:xfrm>
            <a:off x="777240" y="3173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D4BF"/>
                </a:solidFill>
                <a:effectLst/>
                <a:uFillTx/>
                <a:latin typeface="Space Grotesk"/>
                <a:ea typeface="Space Grotesk"/>
              </a:rPr>
              <a:t>✓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1"/>
          <p:cNvSpPr/>
          <p:nvPr/>
        </p:nvSpPr>
        <p:spPr>
          <a:xfrm>
            <a:off x="1463040" y="31273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Add an Nginx reverse-proxy container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2"/>
          <p:cNvSpPr/>
          <p:nvPr/>
        </p:nvSpPr>
        <p:spPr>
          <a:xfrm>
            <a:off x="777240" y="386784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905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3"/>
          <p:cNvSpPr/>
          <p:nvPr/>
        </p:nvSpPr>
        <p:spPr>
          <a:xfrm>
            <a:off x="777240" y="3867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D4BF"/>
                </a:solidFill>
                <a:effectLst/>
                <a:uFillTx/>
                <a:latin typeface="Space Grotesk"/>
                <a:ea typeface="Space Grotesk"/>
              </a:rPr>
              <a:t>✓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4"/>
          <p:cNvSpPr/>
          <p:nvPr/>
        </p:nvSpPr>
        <p:spPr>
          <a:xfrm>
            <a:off x="1463040" y="382212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Pin all image tags to fixed digests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5"/>
          <p:cNvSpPr/>
          <p:nvPr/>
        </p:nvSpPr>
        <p:spPr>
          <a:xfrm>
            <a:off x="777240" y="456300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905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6"/>
          <p:cNvSpPr/>
          <p:nvPr/>
        </p:nvSpPr>
        <p:spPr>
          <a:xfrm>
            <a:off x="777240" y="456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D4BF"/>
                </a:solidFill>
                <a:effectLst/>
                <a:uFillTx/>
                <a:latin typeface="Space Grotesk"/>
                <a:ea typeface="Space Grotesk"/>
              </a:rPr>
              <a:t>✓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7"/>
          <p:cNvSpPr/>
          <p:nvPr/>
        </p:nvSpPr>
        <p:spPr>
          <a:xfrm>
            <a:off x="1463040" y="45172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Split into frontend / backend networks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8"/>
          <p:cNvSpPr/>
          <p:nvPr/>
        </p:nvSpPr>
        <p:spPr>
          <a:xfrm>
            <a:off x="777240" y="525780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11A2E"/>
          </a:solidFill>
          <a:ln w="1905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9"/>
          <p:cNvSpPr/>
          <p:nvPr/>
        </p:nvSpPr>
        <p:spPr>
          <a:xfrm>
            <a:off x="777240" y="5257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DD4BF"/>
                </a:solidFill>
                <a:effectLst/>
                <a:uFillTx/>
                <a:latin typeface="Space Grotesk"/>
                <a:ea typeface="Space Grotesk"/>
              </a:rPr>
              <a:t>✓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0"/>
          <p:cNvSpPr/>
          <p:nvPr/>
        </p:nvSpPr>
        <p:spPr>
          <a:xfrm>
            <a:off x="1463040" y="5212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BF5"/>
                </a:solidFill>
                <a:effectLst/>
                <a:uFillTx/>
                <a:latin typeface="Space Grotesk"/>
                <a:ea typeface="Space Grotesk"/>
              </a:rPr>
              <a:t>CI pipeline to build and push to Docker Hub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0" y="82296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pc="499" strike="noStrike">
                <a:solidFill>
                  <a:srgbClr val="2DD4BF"/>
                </a:solidFill>
                <a:effectLst/>
                <a:uFillTx/>
                <a:latin typeface="JetBrains Mono"/>
                <a:ea typeface="JetBrains Mono"/>
              </a:rPr>
              <a:t>ACKNOWLEDGEMENT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0" y="1234440"/>
            <a:ext cx="1219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2"/>
          <p:cNvSpPr/>
          <p:nvPr/>
        </p:nvSpPr>
        <p:spPr>
          <a:xfrm>
            <a:off x="0" y="2331720"/>
            <a:ext cx="1219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9F1C"/>
                </a:solidFill>
                <a:effectLst/>
                <a:uFillTx/>
                <a:latin typeface="Arial"/>
                <a:ea typeface="Arial"/>
              </a:rPr>
              <a:t>Thank you, Eng. Abdelrahman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"/>
          <p:cNvSpPr/>
          <p:nvPr/>
        </p:nvSpPr>
        <p:spPr>
          <a:xfrm>
            <a:off x="2194560" y="3108960"/>
            <a:ext cx="77720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4D0E2"/>
                </a:solidFill>
                <a:effectLst/>
                <a:uFillTx/>
                <a:latin typeface="Arial"/>
                <a:ea typeface="Arial"/>
              </a:rPr>
              <a:t>For the guidance, the clear explanations, and the hands-on mentorship that made this project possible. Your </a:t>
            </a:r>
            <a:r>
              <a:rPr lang="en-US" sz="1600" b="0" u="none" strike="noStrike">
                <a:solidFill>
                  <a:srgbClr val="C4D0E2"/>
                </a:solidFill>
                <a:effectLst/>
                <a:uFillTx/>
                <a:latin typeface="Arial"/>
                <a:ea typeface="Arial"/>
              </a:rPr>
              <a:t>patience in teaching the “why” behind every step — not just the “how” — is what turned these tools into real </a:t>
            </a:r>
            <a:r>
              <a:rPr lang="en-US" sz="1600" b="0" u="none" strike="noStrike">
                <a:solidFill>
                  <a:srgbClr val="C4D0E2"/>
                </a:solidFill>
                <a:effectLst/>
                <a:uFillTx/>
                <a:latin typeface="Arial"/>
                <a:ea typeface="Arial"/>
              </a:rPr>
              <a:t>understanding.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Image 0" descr="/home/claude/assets/sig.png"/>
          <p:cNvPicPr/>
          <p:nvPr/>
        </p:nvPicPr>
        <p:blipFill>
          <a:blip r:embed="rId2"/>
          <a:stretch/>
        </p:blipFill>
        <p:spPr>
          <a:xfrm>
            <a:off x="4770000" y="5074920"/>
            <a:ext cx="2651400" cy="89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2026-07-18T22:12:35Z</dcterms:created>
  <dc:creator>ALnaqib</dc:creator>
  <dc:description/>
  <dc:language>en-US</dc:language>
  <cp:lastModifiedBy/>
  <dcterms:modified xsi:type="dcterms:W3CDTF">2026-07-19T01:23:33Z</dcterms:modified>
  <cp:revision>2</cp:revision>
  <dc:subject>PptxGenJS Presentation</dc:subject>
  <dc:title>VProfile on Docker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